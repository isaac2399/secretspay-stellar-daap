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84178"/>
            <a:ext cx="3686175" cy="428625"/>
          </a:xfrm>
          <a:prstGeom prst="roundRect">
            <a:avLst>
              <a:gd name="adj" fmla="val 50000"/>
            </a:avLst>
          </a:prstGeom>
          <a:solidFill>
            <a:srgbClr val="171A37"/>
          </a:solidFill>
          <a:ln w="9525">
            <a:solidFill>
              <a:srgbClr val="2D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48175" y="4384178"/>
            <a:ext cx="2314575" cy="428625"/>
          </a:xfrm>
          <a:prstGeom prst="roundRect">
            <a:avLst>
              <a:gd name="adj" fmla="val 50000"/>
            </a:avLst>
          </a:prstGeom>
          <a:solidFill>
            <a:srgbClr val="0A2726"/>
          </a:solidFill>
          <a:ln w="9525">
            <a:solidFill>
              <a:srgbClr val="164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45047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527053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4527053"/>
            <a:ext cx="1428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502247"/>
            <a:ext cx="3562945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Plus Jakarta Sans"/>
              </a:rPr>
              <a:t>PartyPay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63217"/>
            <a:ext cx="7524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High-speed custodial payment infrastructure built on Stellar for live events and high-volume merchants.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059334"/>
            <a:ext cx="39945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Plus Jakarta Sans"/>
              </a:rPr>
              <a:t>BAF × STELLAR BUILDER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498478"/>
            <a:ext cx="31051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C7D2FE"/>
                </a:solidFill>
                <a:latin typeface="Plus Jakarta Sans"/>
              </a:rPr>
              <a:t>Validated B2B Partner: Secrets (Costa Rica)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498478"/>
            <a:ext cx="17145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A7F3D0"/>
                </a:solidFill>
                <a:latin typeface="Plus Jakarta Sans"/>
              </a:rPr>
              <a:t>Stellar Native DEX 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19312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367087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14862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19312"/>
            <a:ext cx="38100" cy="1057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67087"/>
            <a:ext cx="38100" cy="10572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14862"/>
            <a:ext cx="38100" cy="10572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81225"/>
            <a:ext cx="52578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Problem Validation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High Cost of Checkout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30981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Endless Bar &amp; Gate Queues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86037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Multi-second payment latencies stall entrance gates and beverage sales in dense venues.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5758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Direct Revenue Drop-Off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3381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Frustrated event attendees abandon lines, causing immediate unrecoverable sales loss.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0536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Network Outages &amp;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081587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Legacy card terminals fail during peak crowd hours alongside high processing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3505200" cy="20574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05125"/>
            <a:ext cx="3505200" cy="2057400"/>
          </a:xfrm>
          <a:prstGeom prst="roundRect">
            <a:avLst>
              <a:gd name="adj" fmla="val 67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05125"/>
            <a:ext cx="3505200" cy="20574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94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1229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194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343275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236118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3432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Market Validation &amp; Partner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Anchor Client Integration: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290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 Venue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219575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Direct B2B partnership with Secrets, a leading live event organizer in Costa Rica.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21893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2,000 – 5,000 Attendees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12418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High-density audience testing peak payment throughput at venue entrance and bars.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290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Sustainable 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219575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Transaction fee capture co-designed for long-term venue profitability and growth.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3DEC7B-1FA7-092E-7A35-F9B2A79C5A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4630" y="-20278"/>
            <a:ext cx="4037955" cy="26909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257175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28950"/>
            <a:ext cx="257175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28950"/>
            <a:ext cx="257175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28950"/>
            <a:ext cx="257175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05175"/>
            <a:ext cx="2019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305175"/>
            <a:ext cx="20193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305175"/>
            <a:ext cx="20193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305175"/>
            <a:ext cx="20193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Product Usability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Frictionless Custodial Wallet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86175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Email &amp; Password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19550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wallet creation using standard email credentials without web3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686175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Zero Seed Phrases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4019550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Custodial key management eliminating technical barriers for general event attendees.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686175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Local Fiat 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019550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top-ups directly integrated with local Costa Rican banking rails.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686175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Self-Explanatory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4019550"/>
            <a:ext cx="21145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One-tap QR checkout allowing attendees to pay without needing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9412"/>
            <a:ext cx="3454449" cy="195262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19412"/>
            <a:ext cx="3454449" cy="195262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19412"/>
            <a:ext cx="3454449" cy="195262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Technical Infrastructure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Powered by Stellar Settlement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700" y="3233737"/>
            <a:ext cx="353224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4F46E5"/>
                </a:solidFill>
                <a:latin typeface="Plus Jakarta Sans"/>
              </a:rPr>
              <a:t>&lt; 1s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393" y="3919537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Sub-Second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700" y="4214812"/>
            <a:ext cx="35322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Instant transaction finality ensuring non-stop entrance &amp; bar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9949" y="3233737"/>
            <a:ext cx="353224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59669"/>
                </a:solidFill>
                <a:latin typeface="Plus Jakarta Sans"/>
              </a:rPr>
              <a:t>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1643" y="3919537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Path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214812"/>
            <a:ext cx="35322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Background asset swaps executed atomically via native Stellar 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9199" y="3233737"/>
            <a:ext cx="353224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Plus Jakarta Sans"/>
              </a:rPr>
              <a:t>&lt; $0.001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893" y="3919537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Ultra-Low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4214812"/>
            <a:ext cx="35322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Fraction-of-a-cent fees preserving venue and vendor profit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6562"/>
            <a:ext cx="350520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76562"/>
            <a:ext cx="350520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76562"/>
            <a:ext cx="350520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8815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76562"/>
            <a:ext cx="35052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48815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976562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48815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976562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2976562"/>
            <a:ext cx="9525" cy="1914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319462"/>
            <a:ext cx="1428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319462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575" y="3319462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Testing &amp; Adoption Milestones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Real-World Pilot Growth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662362"/>
            <a:ext cx="377547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10 – 50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148137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Initial live deployment during Halloween night event with Secrets venue.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3662362"/>
            <a:ext cx="377547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50 – 100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4148137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Scaled stress test during peak end-of-year holiday nightlife surge.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3662362"/>
            <a:ext cx="377547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100+ Active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525" y="4148137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Consolidated active user base expanding to recurring venue &amp; retail partners.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3338512"/>
            <a:ext cx="14731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Plus Jakarta Sans"/>
              </a:rPr>
              <a:t>PHASE 1 · HALLOWEEN</a:t>
            </a:r>
            <a:r>
              <a:rPr lang="es-CR" sz="975" b="1" i="0" u="none" dirty="0">
                <a:solidFill>
                  <a:srgbClr val="4F46E5"/>
                </a:solidFill>
                <a:latin typeface="Plus Jakarta Sans"/>
              </a:rPr>
              <a:t> 2026</a:t>
            </a:r>
            <a:endParaRPr sz="975" b="1" i="0" u="none" dirty="0">
              <a:solidFill>
                <a:srgbClr val="4F46E5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57725" y="3338512"/>
            <a:ext cx="168155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D9488"/>
                </a:solidFill>
                <a:latin typeface="Plus Jakarta Sans"/>
              </a:rPr>
              <a:t>PHASE 2 · NEW YEAR'S EVE</a:t>
            </a:r>
            <a:r>
              <a:rPr lang="es-CR" sz="975" b="1" i="0" u="none" dirty="0">
                <a:solidFill>
                  <a:srgbClr val="0D9488"/>
                </a:solidFill>
                <a:latin typeface="Plus Jakarta Sans"/>
              </a:rPr>
              <a:t> 2026</a:t>
            </a:r>
            <a:endParaRPr sz="975" b="1" i="0" u="none" dirty="0">
              <a:solidFill>
                <a:srgbClr val="0D948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1525" y="3338512"/>
            <a:ext cx="1654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PHASE 3 · EARLY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24600" y="2119312"/>
            <a:ext cx="52578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3367087"/>
            <a:ext cx="52578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4614862"/>
            <a:ext cx="52578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6475"/>
            <a:ext cx="525780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34315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590925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838700"/>
            <a:ext cx="1905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Go-To-Market &amp; Scale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Mainnet Scale via VISA &amp; MoneyGram Anchors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614612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Physical cash-in and cash-out liquidity points worldwide for custodial balances.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862387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Virtual card issuing enabling mainnet spending at any traditional POS terminal.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5110162"/>
            <a:ext cx="4953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PartyPay evolves from an event feature into a universal daily payment wallet.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319337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MoneyGram Cash 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567112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VISA Anchor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814887"/>
            <a:ext cx="30878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Universal Merchant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4662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4662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4662"/>
            <a:ext cx="35052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28987"/>
            <a:ext cx="28765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28987"/>
            <a:ext cx="28765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28987"/>
            <a:ext cx="28765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Competitive Advantage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Why PartyPay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861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 Client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767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Co-designed with Secrets to solve verified live venue checkout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861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Ultra-Light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767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Built on Stellar for near-zero fees and instant transaction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861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Ecosystem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767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Leap from live event payments into a universal custodial daily wallet.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14675"/>
            <a:ext cx="2600325" cy="16383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14675"/>
            <a:ext cx="2600325" cy="16383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14675"/>
            <a:ext cx="2600325" cy="16383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14675"/>
            <a:ext cx="2600325" cy="16383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743450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114675"/>
            <a:ext cx="260032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4743450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425" y="3114675"/>
            <a:ext cx="260032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0425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91225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4743450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3114675"/>
            <a:ext cx="260032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82050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82075" y="4743450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3114675"/>
            <a:ext cx="260032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114675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 Builder Challenge Criteria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Comprehensive Evaluation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38137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PROBLEM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66712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Secrets 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000500"/>
            <a:ext cx="22193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Verified directly with a real 2,000–5,000 attendee event operator in Costa Rica.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8550" y="338137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BUSINESS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8550" y="366712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Mainnet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8550" y="4000500"/>
            <a:ext cx="22193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Clear fee capture model expanding to universal retail via VISA &amp; MoneyGram.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338137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PRODUCT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366712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Self-Guided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4000500"/>
            <a:ext cx="22193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Custodial email login with simple QR flow ready for unassisted user testing.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0200" y="338137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TECHNICAL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366712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Stellar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4000500"/>
            <a:ext cx="22193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Sub-second settlement with automated DEX path payments and clean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72037" y="4504283"/>
            <a:ext cx="2447925" cy="542925"/>
          </a:xfrm>
          <a:prstGeom prst="roundRect">
            <a:avLst>
              <a:gd name="adj" fmla="val 50000"/>
            </a:avLst>
          </a:prstGeom>
          <a:solidFill>
            <a:srgbClr val="171A37"/>
          </a:solidFill>
          <a:ln w="9525">
            <a:solidFill>
              <a:srgbClr val="2D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4690020"/>
            <a:ext cx="17145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4937" y="1810791"/>
            <a:ext cx="1762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818CF8"/>
                </a:solidFill>
                <a:latin typeface="Plus Jakarta Sans"/>
              </a:rPr>
              <a:t>FUTURE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2835" y="2134641"/>
            <a:ext cx="10626328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From Costa Rica Events to Global Mainnet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551783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We have the validated problem, the B2B client (Secrets), and the sub-second power of Stellar.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4696" y="4656683"/>
            <a:ext cx="208835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PartyPay × Stellar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541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Camacho Navarro</cp:lastModifiedBy>
  <cp:revision>2</cp:revision>
  <dcterms:created xsi:type="dcterms:W3CDTF">2013-01-27T09:14:16Z</dcterms:created>
  <dcterms:modified xsi:type="dcterms:W3CDTF">2026-09-27T20:29:29Z</dcterms:modified>
  <cp:category/>
</cp:coreProperties>
</file>